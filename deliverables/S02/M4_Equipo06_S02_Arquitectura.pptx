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Ejemplo resuelto con el caso de clase. No se entrega: el equipo completa la diapositiva 2 con su subcaso.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Reemplace cada texto gris por el de su subcaso. Para entregar: Archivo → Exportar → Crear PDF (M4_EquipoXX_S02_Arquitectura.pdf) y suba también este .pptx.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00" b="1" i="0">
                <a:solidFill>
                  <a:srgbClr val="E87722"/>
                </a:solidFill>
                <a:latin typeface="Calibri"/>
              </a:rPr>
              <a:t>EJEMPLO · ACERÍA ANDINA (NO SE ENTREGA)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600" b="1" i="0">
                <a:solidFill>
                  <a:srgbClr val="102A43"/>
                </a:solidFill>
                <a:latin typeface="Calibri"/>
              </a:rPr>
              <a:t>Así se ve un diagrama de arquitectura completo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050" b="1" i="0">
                <a:solidFill>
                  <a:srgbClr val="E87722"/>
                </a:solidFill>
                <a:latin typeface="Calibri"/>
              </a:rPr>
              <a:t>DECISIÓN QUE APOYA EL TABLERO · quién decide, qué decide y cada cuánto</a:t>
            </a:r>
          </a:p>
          <a:p>
            <a:pPr algn="l"/>
            <a:r>
              <a:rPr sz="1300" b="0" i="0">
                <a:solidFill>
                  <a:srgbClr val="17212B"/>
                </a:solidFill>
                <a:latin typeface="Calibri"/>
              </a:rPr>
              <a:t>El jefe de Laminación decide, cada turno, en qué activo intervenir primero según la pérdida de OEE.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1 · ORIGEN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0" i="0">
                <a:solidFill>
                  <a:srgbClr val="17212B"/>
                </a:solidFill>
                <a:latin typeface="Calibri"/>
              </a:rPr>
              <a:t>SCADA de LAM-01 (una lectura por segundo) y ERP de mantenimiento (órdenes de trabajo).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2148" y="3287268"/>
            <a:ext cx="228600" cy="237744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7324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8764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2 · TABLA 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8764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0" i="0">
                <a:solidFill>
                  <a:srgbClr val="17212B"/>
                </a:solidFill>
                <a:latin typeface="Calibri"/>
              </a:rPr>
              <a:t>telemetria_20261006.csv
fact_ordenes_silver.csv
Una fila = una lectura / una orden.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0833" y="3287268"/>
            <a:ext cx="228600" cy="237744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06009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7449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3 · POWER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7449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0" i="0">
                <a:solidFill>
                  <a:srgbClr val="17212B"/>
                </a:solidFill>
                <a:latin typeface="Calibri"/>
              </a:rPr>
              <a:t>Fecha con región Español (Bolivia). Lecturas −999 excluidas y contadas. Tipos revisados.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19518" y="3287268"/>
            <a:ext cx="228600" cy="237744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84694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6134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4 · MODELO SEMÁNTICO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6134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0" i="0">
                <a:solidFill>
                  <a:srgbClr val="17212B"/>
                </a:solidFill>
                <a:latin typeface="Calibri"/>
              </a:rPr>
              <a:t>Modo Importación. dim_activo y dim_fecha; relación por id_activo.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98203" y="3287268"/>
            <a:ext cx="228600" cy="237744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63379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4819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5 · INDICADOR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4819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50" b="0" i="0">
                <a:solidFill>
                  <a:srgbClr val="17212B"/>
                </a:solidFill>
                <a:latin typeface="Calibri"/>
              </a:rPr>
              <a:t>OEE por activo y turno, con meta de 85 %.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54880"/>
            <a:ext cx="3514344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3331464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Brecha DCAM de partida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3331464" cy="1051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 i="0">
                <a:solidFill>
                  <a:srgbClr val="17212B"/>
                </a:solidFill>
                <a:latin typeface="Calibri"/>
              </a:rPr>
              <a:t>Lecturas fuera de rango sin protocolo (E-04) · C5 Calidad de datos · Proceso · puntaje 1.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7304" y="4754880"/>
            <a:ext cx="3514344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8744" y="4846320"/>
            <a:ext cx="3331464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Riesgo principal →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8744" y="5212080"/>
            <a:ext cx="3331464" cy="1051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 i="0">
                <a:solidFill>
                  <a:srgbClr val="17212B"/>
                </a:solidFill>
                <a:latin typeface="Calibri"/>
              </a:rPr>
              <a:t>Un −999 entra al promedio y dispara una parada falsa → regla en Power Query que lo excluye y cuenta cuántos hubo.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5968" y="4754880"/>
            <a:ext cx="3514344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7408" y="4846320"/>
            <a:ext cx="3331464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Pendiente y responsable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7408" y="5212080"/>
            <a:ext cx="3331464" cy="1051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0" i="0">
                <a:solidFill>
                  <a:srgbClr val="17212B"/>
                </a:solidFill>
                <a:latin typeface="Calibri"/>
              </a:rPr>
              <a:t>Confirmar con Automatización el rango válido de temperatura. Responsable: Ana (Datos).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9144000" cy="274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E87722"/>
                </a:solidFill>
                <a:latin typeface="Calibri"/>
              </a:rPr>
              <a:t>PROYECTO INTEGRADOR · HITO S02 · EQUIPO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94360"/>
            <a:ext cx="11064240" cy="54864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2600" b="1" i="0">
                <a:solidFill>
                  <a:srgbClr val="102A43"/>
                </a:solidFill>
                <a:latin typeface="Calibri"/>
              </a:rPr>
              <a:t>Diagrama de arquitectura del subcaso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11091672" cy="685800"/>
          </a:xfrm>
          <a:prstGeom prst="roundRect">
            <a:avLst>
              <a:gd name="adj" fmla="val 8000"/>
            </a:avLst>
          </a:prstGeom>
          <a:solidFill>
            <a:srgbClr val="FFF4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789920" cy="5943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/>
            <a:r>
              <a:rPr sz="1050" b="1" i="0">
                <a:solidFill>
                  <a:srgbClr val="E87722"/>
                </a:solidFill>
                <a:latin typeface="Calibri"/>
              </a:rPr>
              <a:t>DECISIÓN QUE APOYA EL TABLERO · quién decide, qué decide y cada cuánto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52606D"/>
                </a:solidFill>
                <a:latin typeface="Calibri"/>
              </a:rPr>
              <a:t>La Jefatura de Operaciones decide cada semana dónde priorizar controles térmicos por producto y camión y qué lotes o centros revisar por vencimiento y merma.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1 · ORIGEN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Calibri"/>
              </a:rPr>
              <a:t>No documentado por archivo; por acordar.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Calibri"/>
              </a:rPr>
              <a:t>No se atribuye ERP, WMS, TMS ni telemetría a estas tablas.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562148" y="3287268"/>
            <a:ext cx="228600" cy="237744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827324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8764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2 · TABLA SILVER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18764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Calibri"/>
              </a:rPr>
              <a:t>5 fuentes oficiales: DATA-001 a DATA-005.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Calibri"/>
              </a:rPr>
              <a:t>Una fila = una lectura, producto, camión, lote o centro-mes.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840833" y="3287268"/>
            <a:ext cx="228600" cy="237744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06009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97449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3 · POWER QUERY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97449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RutaSilver + File.Contents + Csv.Document; Encabezados y Tipado.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Ya existente; sin cambios en S02.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119518" y="3287268"/>
            <a:ext cx="228600" cy="237744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84694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76134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4 · MODELO SEMÁNTICO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76134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Calibri"/>
              </a:rPr>
              <a:t>5 tablas Import; 0 relaciones; 0 medidas.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Calibri"/>
              </a:rPr>
              <a:t>Modelo relacional: dimensiones y relaciones, propuestas para S06.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398203" y="3287268"/>
            <a:ext cx="228600" cy="237744"/>
          </a:xfrm>
          <a:prstGeom prst="rightArrow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663379" y="2331720"/>
            <a:ext cx="1976932" cy="2148840"/>
          </a:xfrm>
          <a:prstGeom prst="roundRect">
            <a:avLst>
              <a:gd name="adj" fmla="val 8000"/>
            </a:avLst>
          </a:prstGeom>
          <a:solidFill>
            <a:srgbClr val="F1F5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754819" y="2441448"/>
            <a:ext cx="1794052" cy="5029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200" b="1" i="0">
                <a:solidFill>
                  <a:srgbClr val="1F5A94"/>
                </a:solidFill>
                <a:latin typeface="Calibri"/>
              </a:rPr>
              <a:t>5 · INDICADOR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54819" y="2971800"/>
            <a:ext cx="1794052" cy="141732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% de viajes con desviación.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2606D"/>
                </a:solidFill>
                <a:latin typeface="Calibri"/>
              </a:rPr>
              <a:t>Nivel táctico; fórmula y unidad en Fichas KPI.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4754880"/>
            <a:ext cx="3514344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4846320"/>
            <a:ext cx="3331464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Brecha DCAM de partida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212080"/>
            <a:ext cx="3331464" cy="1051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No encontramos definición explícita de centro_distribucion.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C4 Conocimiento de los datos · Evidencia · 1 Incipiente.</a:t>
            </a:r>
          </a:p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52606D"/>
                </a:solidFill>
                <a:latin typeface="Calibri"/>
              </a:rPr>
              <a:t>Ausencia documentada; no resuelta.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37304" y="4754880"/>
            <a:ext cx="3514344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428744" y="4846320"/>
            <a:ext cx="3331464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Riesgo principal → 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28744" y="5212080"/>
            <a:ext cx="3331464" cy="1051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2606D"/>
                </a:solidFill>
                <a:latin typeface="Calibri"/>
              </a:rPr>
              <a:t>Riesgo: interpretar mal qué representa el centro y usarlo en filtros o conclusiones.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2606D"/>
                </a:solidFill>
                <a:latin typeface="Calibri"/>
              </a:rPr>
              <a:t>Hecho: 8.000/8.000 viajes emparejados sin discrepancias: centro WMS = centro base; no prueba significado empresarial.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2606D"/>
                </a:solidFill>
                <a:latin typeface="Calibri"/>
              </a:rPr>
              <a:t>Control: documentar ausencia, usos y límites conocidos; solicitar definición y validación empresarial.</a:t>
            </a:r>
          </a:p>
          <a:p>
            <a:pPr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52606D"/>
                </a:solidFill>
                <a:latin typeface="Calibri"/>
              </a:rPr>
              <a:t>Complemento: no usar centro_distribucion_base como ruta u origen real; dim_centro y controles de claves, propuestas posteriores.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25968" y="4754880"/>
            <a:ext cx="3514344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C9D2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17408" y="4846320"/>
            <a:ext cx="3331464" cy="3657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spAutoFit/>
          </a:bodyPr>
          <a:lstStyle/>
          <a:p>
            <a:pPr algn="l"/>
            <a:r>
              <a:rPr sz="1150" b="1" i="0">
                <a:solidFill>
                  <a:srgbClr val="102A43"/>
                </a:solidFill>
                <a:latin typeface="Calibri"/>
              </a:rPr>
              <a:t>Pendiente y responsable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17408" y="5212080"/>
            <a:ext cx="3331464" cy="1051560"/>
          </a:xfrm>
          <a:prstGeom prst="rect">
            <a:avLst/>
          </a:prstGeom>
          <a:noFill/>
        </p:spPr>
        <p:txBody>
          <a:bodyPr wrap="square" anchor="t" lIns="73152" rIns="73152" tIns="36576" bIns="36576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2606D"/>
                </a:solidFill>
                <a:latin typeface="Calibri"/>
              </a:rPr>
              <a:t>Definición y validación empresarial de centro_distribucion; seguimiento Grupo 06; validador por acordar. No resuelto.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