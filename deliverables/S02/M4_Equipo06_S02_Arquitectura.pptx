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resuelto con el caso de clase. No se entrega: el equipo completa la diapositiva 2 con su subcaso.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Reemplace cada texto gris por el de su subcaso. Para entregar: Archivo → Exportar → Crear PDF (M4_EquipoXX_S02_Arquitectura.pdf) y suba también este 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E87722"/>
                </a:solidFill>
                <a:latin typeface="Calibri"/>
              </a:rPr>
              <a:t>EJEMPLO · ACERÍA ANDINA (NO SE ENTREGA)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02A43"/>
                </a:solidFill>
                <a:latin typeface="Calibri"/>
              </a:rPr>
              <a:t>Así se ve un diagrama de arquitectura completo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DECISIÓN QUE APOYA EL TABLERO · quién decide, qué decide y cada cuánto</a:t>
            </a:r>
          </a:p>
          <a:p>
            <a:pPr algn="l"/>
            <a:r>
              <a:rPr sz="1300" b="0" i="0">
                <a:solidFill>
                  <a:srgbClr val="17212B"/>
                </a:solidFill>
                <a:latin typeface="Calibri"/>
              </a:rPr>
              <a:t>El jefe de Laminación decide, cada turno, en qué activo intervenir primero según la pérdida de OEE.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1 ·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SCADA de LAM-01 (una lectura por segundo) y ERP de mantenimiento (órdenes de trabajo).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732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76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2 · TABLA SILVER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876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telemetria_20261006.csv
fact_ordenes_silver.csv
Una fila = una lectura / una orden.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083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0600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744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3 · POWER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744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Fecha con región Español (Bolivia). Lecturas −999 excluidas y contadas. Tipos revisados.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51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469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613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4 · MODELO SEMÁNTICO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613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Modo Importación. dim_activo y dim_fecha; relación por id_activo.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820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6337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481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5 · INDICADOR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481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50" b="0" i="0">
                <a:solidFill>
                  <a:srgbClr val="17212B"/>
                </a:solidFill>
                <a:latin typeface="Calibri"/>
              </a:rPr>
              <a:t>OEE por activo y turno, con meta de 85 %.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Brecha DCAM de partida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Lecturas fuera de rango sin protocolo (E-04) · C5 Calidad de datos · Proceso · puntaje 1.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7304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8744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Riesgo principal →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8744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Un −999 entra al promedio y dispara una parada falsa → regla en Power Query que lo excluye y cuenta cuántos hubo.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5968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Pendiente y responsable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7212B"/>
                </a:solidFill>
                <a:latin typeface="Calibri"/>
              </a:rPr>
              <a:t>Confirmar con Automatización el rango válido de temperatura. Responsable: Ana (Datos).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PROYECTO INTEGRADOR · HITO S02 · EQUIPO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02A43"/>
                </a:solidFill>
                <a:latin typeface="Calibri"/>
              </a:rPr>
              <a:t>Diagrama de arquitectura del subcaso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DECISIÓN QUE APOYA EL TABLERO · quién decide, qué decide y cada cuánto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2606D"/>
                </a:solidFill>
                <a:latin typeface="Calibri"/>
              </a:rPr>
              <a:t>La Jefatura de Operaciones decide cada semana dónde priorizar controles térmicos por producto y camión y qué lotes o centros revisar por vencimiento y merma.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1 ·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No documentado por archivo; por acordar.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No se atribuye ERP, WMS, TMS ni telemetría a estas tablas.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732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76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2 · TABLA SILVER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876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5 fuentes oficiales: DATA-001 a DATA-005.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Una fila = una lectura, producto, camión, lote o centro-mes.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083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0600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744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3 · POWER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744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RutaSilver + File.Contents + Csv.Document; Encabezados y Tipado.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Ya existente; sin cambios en S02.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518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4694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6134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4 · MODELO SEMÁNTICO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6134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5 tablas Import; 0 relaciones; 0 medidas.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Modelo relacional: dimensiones y relaciones, propuestas para S06.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8203" y="3287268"/>
            <a:ext cx="228600" cy="237744"/>
          </a:xfrm>
          <a:prstGeom prst="rightArrow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63379" y="2331720"/>
            <a:ext cx="1976932" cy="214884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4819" y="2441448"/>
            <a:ext cx="1794052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5A94"/>
                </a:solidFill>
                <a:latin typeface="Calibri"/>
              </a:rPr>
              <a:t>5 · INDICADOR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4819" y="2971800"/>
            <a:ext cx="1794052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2606D"/>
                </a:solidFill>
                <a:latin typeface="Calibri"/>
              </a:rPr>
              <a:t>% de viajes con desviación.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2606D"/>
                </a:solidFill>
                <a:latin typeface="Calibri"/>
              </a:rPr>
              <a:t>Nivel táctico; fórmula y unidad en Fichas KPI.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Brecha DCAM de partida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No encontramos definición explícita de centro_distribucion.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C4 Conocimiento de los datos · Evidencia · 1 Incipiente.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Ausencia documentada; no resuelta.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7304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8744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Riesgo principal →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8744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2606D"/>
                </a:solidFill>
                <a:latin typeface="Calibri"/>
              </a:rPr>
              <a:t>Riesgo: interpretar mal qué representa el centro y usarlo en filtros o conclusiones.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2606D"/>
                </a:solidFill>
                <a:latin typeface="Calibri"/>
              </a:rPr>
              <a:t>Hecho: 8.000/8.000 viajes emparejados sin discrepancias: centro WMS = centro base; no prueba significado empresarial.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2606D"/>
                </a:solidFill>
                <a:latin typeface="Calibri"/>
              </a:rPr>
              <a:t>Control: documentar ausencia, usos y límites conocidos; solicitar definición y validación empresarial.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2606D"/>
                </a:solidFill>
                <a:latin typeface="Calibri"/>
              </a:rPr>
              <a:t>Complemento: no usar centro_distribucion_base como ruta u origen real; dim_centro y controles de claves, propuestas posteriores.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5968" y="4754880"/>
            <a:ext cx="3514344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4846320"/>
            <a:ext cx="3331464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Pendiente y responsable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5212080"/>
            <a:ext cx="3331464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606D"/>
                </a:solidFill>
                <a:latin typeface="Calibri"/>
              </a:rPr>
              <a:t>Definición y validación empresarial de centro_distribucion; seguimiento Grupo 06; validador por acordar. No resuelto.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apa Silver - texto"/>
          <p:cNvSpPr txBox="1"/>
          <p:nvPr/>
        </p:nvSpPr>
        <p:spPr>
          <a:xfrm>
            <a:off x="320040" y="1645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7722"/>
                </a:solidFill>
                <a:latin typeface="Calibri"/>
              </a:rPr>
              <a:t>PROYECTO INTEGRADOR · HITO S02 · EQUIPO 06</a:t>
            </a:r>
          </a:p>
        </p:txBody>
      </p:sp>
      <p:sp>
        <p:nvSpPr>
          <p:cNvPr id="3" name="Mapa Silver - texto"/>
          <p:cNvSpPr txBox="1"/>
          <p:nvPr/>
        </p:nvSpPr>
        <p:spPr>
          <a:xfrm>
            <a:off x="320040" y="384048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3A4D"/>
                </a:solidFill>
                <a:latin typeface="Calibri"/>
              </a:rPr>
              <a:t>Mapa Silver — 1/2</a:t>
            </a:r>
          </a:p>
        </p:txBody>
      </p:sp>
      <p:sp>
        <p:nvSpPr>
          <p:cNvPr id="4" name="Mapa Silver - línea de acento"/>
          <p:cNvSpPr/>
          <p:nvPr/>
        </p:nvSpPr>
        <p:spPr>
          <a:xfrm>
            <a:off x="320040" y="841248"/>
            <a:ext cx="11548872" cy="3200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a Mapa Silver 1/2"/>
          <p:cNvGraphicFramePr>
            <a:graphicFrameLocks noGrp="1"/>
          </p:cNvGraphicFramePr>
          <p:nvPr/>
        </p:nvGraphicFramePr>
        <p:xfrm>
          <a:off x="320040" y="932688"/>
          <a:ext cx="11548872" cy="5029200"/>
        </p:xfrm>
        <a:graphic>
          <a:graphicData uri="http://schemas.openxmlformats.org/drawingml/2006/table">
            <a:tbl>
              <a:tblPr firstRow="1"/>
              <a:tblGrid>
                <a:gridCol w="2331720"/>
                <a:gridCol w="1152144"/>
                <a:gridCol w="1554480"/>
                <a:gridCol w="1883664"/>
                <a:gridCol w="1097280"/>
                <a:gridCol w="1645920"/>
                <a:gridCol w="1883664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Archivo / tabla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Granularidad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Identificador único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Propietario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Control propuesto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andinalog_iot_telemetry_silver.csv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Una lectura dentro de un viaje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viaje_id + minutos_desde_despacho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Observación cada 30 min; actualización por acordar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Por acordar; revisión Grupo 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Interpretar el centro del camión como centro real del viaje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Documentar el límite y no usar el centro base como ruta; control de clave compuesta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andinalog_productos_silver.csv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Un producto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producto_id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Catálogo; actualización por acordar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Por acordar; revisión Grupo 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Extrapolar KPI térmicos a todo el catálogo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Registrar cobertura 70 de 120 en telemetría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andinalog_flota_silver.csv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Un camión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camion_id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Catálogo; actualización por acordar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Por acordar; revisión Grupo 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Usar centro_distribucion_base como centro operativo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Mantener la distinción base/operativo y registrarla como pendiente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apa Silver - texto"/>
          <p:cNvSpPr txBox="1"/>
          <p:nvPr/>
        </p:nvSpPr>
        <p:spPr>
          <a:xfrm>
            <a:off x="320040" y="1645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7722"/>
                </a:solidFill>
                <a:latin typeface="Calibri"/>
              </a:rPr>
              <a:t>PROYECTO INTEGRADOR · HITO S02 · EQUIPO 06</a:t>
            </a:r>
          </a:p>
        </p:txBody>
      </p:sp>
      <p:sp>
        <p:nvSpPr>
          <p:cNvPr id="3" name="Mapa Silver - texto"/>
          <p:cNvSpPr txBox="1"/>
          <p:nvPr/>
        </p:nvSpPr>
        <p:spPr>
          <a:xfrm>
            <a:off x="320040" y="384048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3A4D"/>
                </a:solidFill>
                <a:latin typeface="Calibri"/>
              </a:rPr>
              <a:t>Mapa Silver — 2/2</a:t>
            </a:r>
          </a:p>
        </p:txBody>
      </p:sp>
      <p:sp>
        <p:nvSpPr>
          <p:cNvPr id="4" name="Mapa Silver - línea de acento"/>
          <p:cNvSpPr/>
          <p:nvPr/>
        </p:nvSpPr>
        <p:spPr>
          <a:xfrm>
            <a:off x="320040" y="841248"/>
            <a:ext cx="11548872" cy="3200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a Mapa Silver 2/2"/>
          <p:cNvGraphicFramePr>
            <a:graphicFrameLocks noGrp="1"/>
          </p:cNvGraphicFramePr>
          <p:nvPr/>
        </p:nvGraphicFramePr>
        <p:xfrm>
          <a:off x="320040" y="932688"/>
          <a:ext cx="11548872" cy="5029200"/>
        </p:xfrm>
        <a:graphic>
          <a:graphicData uri="http://schemas.openxmlformats.org/drawingml/2006/table">
            <a:tbl>
              <a:tblPr firstRow="1"/>
              <a:tblGrid>
                <a:gridCol w="2331720"/>
                <a:gridCol w="1152144"/>
                <a:gridCol w="1554480"/>
                <a:gridCol w="1883664"/>
                <a:gridCol w="1097280"/>
                <a:gridCol w="1645920"/>
                <a:gridCol w="1883664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Archivo / tabla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Granularidad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Identificador único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Propietario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Control propuesto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43746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andinalog_inventory_tracking_silver.csv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Un lote con ingreso, salida y merma en esta entrega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lote_id; movimiento_id único en esta entrega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Sin periodicidad fija: una fila por lote contiene las fechas de ingreso y salida; actualización por acordar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Por acordar; revisión Grupo 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Leer vencimiento como stock vigente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Declarar que todos los lotes salieron; KPI históricos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andinalog_warehouse_costs_silver.csv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Un centro en un mes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centro_distribucion + periodo_mes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Mensual; actualización por acordar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Por acordar; revisión Grupo 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Asignar costos a productos sin regla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63442"/>
                          </a:solidFill>
                          <a:latin typeface="Calibri"/>
                        </a:rPr>
                        <a:t>No asignar; relación temporal en S06</a:t>
                      </a:r>
                    </a:p>
                  </a:txBody>
                  <a:tcPr anchor="ctr" marL="54864" marR="54864" marT="32004" marB="32004">
                    <a:lnL w="9525" cap="flat" cmpd="sng" algn="ctr">
                      <a:solidFill>
                        <a:srgbClr val="C9D3DD"/>
                      </a:solidFill>
                      <a:prstDash val="solid"/>
                    </a:lnL>
                    <a:lnR w="9525" cap="flat" cmpd="sng" algn="ctr">
                      <a:solidFill>
                        <a:srgbClr val="C9D3DD"/>
                      </a:solidFill>
                      <a:prstDash val="solid"/>
                    </a:lnR>
                    <a:lnT w="9525" cap="flat" cmpd="sng" algn="ctr">
                      <a:solidFill>
                        <a:srgbClr val="C9D3DD"/>
                      </a:solidFill>
                      <a:prstDash val="solid"/>
                    </a:lnT>
                    <a:lnB w="9525" cap="flat" cmpd="sng" algn="ctr">
                      <a:solidFill>
                        <a:srgbClr val="C9D3DD"/>
                      </a:solidFill>
                      <a:prstDash val="solid"/>
                    </a:lnB>
                    <a:solidFill>
                      <a:srgbClr val="F2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