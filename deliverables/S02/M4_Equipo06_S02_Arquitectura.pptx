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resuelto con el caso de clase. No se entrega: el equipo completa la diapositiva 2 con su subcaso.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Reemplace cada texto gris por el de su subcaso. Para entregar: Archivo → Exportar → Crear PDF (M4_EquipoXX_S02_Arquitectura.pdf) y suba también este 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E87722"/>
                </a:solidFill>
                <a:latin typeface="Calibri"/>
              </a:rPr>
              <a:t>EJEMPLO · ACERÍA ANDINA (NO SE ENTREGA)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02A43"/>
                </a:solidFill>
                <a:latin typeface="Calibri"/>
              </a:rPr>
              <a:t>Así se ve un diagrama de arquitectura completo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DECISIÓN QUE APOYA EL TABLERO · quién decide, qué decide y cada cuánto</a:t>
            </a:r>
          </a:p>
          <a:p>
            <a:pPr algn="l"/>
            <a:r>
              <a:rPr sz="1300" b="0" i="0">
                <a:solidFill>
                  <a:srgbClr val="17212B"/>
                </a:solidFill>
                <a:latin typeface="Calibri"/>
              </a:rPr>
              <a:t>El jefe de Laminación decide, cada turno, en qué activo intervenir primero según la pérdida de OEE.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1 ·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SCADA de LAM-01 (una lectura por segundo) y ERP de mantenimiento (órdenes de trabajo).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7324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8764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2 · TABLA SILVER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8764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telemetria_20261006.csv
fact_ordenes_silver.csv
Una fila = una lectura / una orden.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0833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06009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7449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3 · POWER QUERY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7449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Fecha con región Español (Bolivia). Lecturas −999 excluidas y contadas. Tipos revisados.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19518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4694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6134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4 · MODELO SEMÁNTICO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6134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Modo Importación. dim_activo y dim_fecha; relación por id_activo.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98203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63379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54819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5 · INDICADOR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4819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OEE por activo y turno, con meta de 85 %.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Brecha DCAM de partida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7212B"/>
                </a:solidFill>
                <a:latin typeface="Calibri"/>
              </a:rPr>
              <a:t>Lecturas fuera de rango sin protocolo (E-04) · C5 Calidad de datos · Proceso · puntaje 1.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7304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28744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Riesgo principal →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8744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7212B"/>
                </a:solidFill>
                <a:latin typeface="Calibri"/>
              </a:rPr>
              <a:t>Un −999 entra al promedio y dispara una parada falsa → regla en Power Query que lo excluye y cuenta cuántos hubo.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5968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Pendiente y responsable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7212B"/>
                </a:solidFill>
                <a:latin typeface="Calibri"/>
              </a:rPr>
              <a:t>Confirmar con Automatización el rango válido de temperatura. Responsable: Ana (Datos).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E87722"/>
                </a:solidFill>
                <a:latin typeface="Calibri"/>
              </a:rPr>
              <a:t>PROYECTO INTEGRADOR · HITO S02 · EQUIPO XX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02A43"/>
                </a:solidFill>
                <a:latin typeface="Calibri"/>
              </a:rPr>
              <a:t>Diagrama de arquitectura del subcaso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DECISIÓN QUE APOYA EL TABLERO · quién decide, qué decide y cada cuánto</a:t>
            </a:r>
          </a:p>
          <a:p>
            <a:pPr algn="l"/>
            <a:r>
              <a:rPr sz="1300" b="0" i="1">
                <a:solidFill>
                  <a:srgbClr val="52606D"/>
                </a:solidFill>
                <a:latin typeface="Calibri"/>
              </a:rPr>
              <a:t>Escriba aquí la decisión en una frase: quién decide, qué decide y cada cuánto.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1 ·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1">
                <a:solidFill>
                  <a:srgbClr val="52606D"/>
                </a:solidFill>
                <a:latin typeface="Calibri"/>
              </a:rPr>
              <a:t>¿De qué sistema vienen los datos? (ERP, SCADA, CRM, WMS…)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7324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8764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2 · TABLA SILVER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8764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1">
                <a:solidFill>
                  <a:srgbClr val="52606D"/>
                </a:solidFill>
                <a:latin typeface="Calibri"/>
              </a:rPr>
              <a:t>¿Qué archivos Silver usan? ¿Qué representa una fila de cada uno?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0833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06009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7449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3 · POWER QUERY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7449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1">
                <a:solidFill>
                  <a:srgbClr val="52606D"/>
                </a:solidFill>
                <a:latin typeface="Calibri"/>
              </a:rPr>
              <a:t>¿Qué corrigen antes de cargar? (región, tipos, vacíos, códigos)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19518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4694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6134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4 · MODELO SEMÁNTICO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6134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1">
                <a:solidFill>
                  <a:srgbClr val="52606D"/>
                </a:solidFill>
                <a:latin typeface="Calibri"/>
              </a:rPr>
              <a:t>¿Qué tablas se relacionan y por qué columna? (Importación)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98203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63379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54819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5 · INDICADOR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4819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1">
                <a:solidFill>
                  <a:srgbClr val="52606D"/>
                </a:solidFill>
                <a:latin typeface="Calibri"/>
              </a:rPr>
              <a:t>¿Qué KPI ve quien decide? Use uno de su hoja «Fichas KPI».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Brecha DCAM de partida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1">
                <a:solidFill>
                  <a:srgbClr val="52606D"/>
                </a:solidFill>
                <a:latin typeface="Calibri"/>
              </a:rPr>
              <a:t>La brecha priorizada en el hito S01: hecho, componente, dimensión y puntaje.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7304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28744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Riesgo principal →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8744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1">
                <a:solidFill>
                  <a:srgbClr val="52606D"/>
                </a:solidFill>
                <a:latin typeface="Calibri"/>
              </a:rPr>
              <a:t>¿Qué podría hacer que el KPI salga mal, y qué regla lo evita?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5968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Pendiente y responsable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1">
                <a:solidFill>
                  <a:srgbClr val="52606D"/>
                </a:solidFill>
                <a:latin typeface="Calibri"/>
              </a:rPr>
              <a:t>Lo que todavía no pudieron comprobar y quién del equipo se encarga.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