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Exposición y demostración: 22 minutos en total; luego 8 minutos de preguntas. Cada diapositiva indica arriba a la derecha el criterio de la rúbrica v4 que respalda y los minutos sugeridos. Reemplace todo texto entre [corchetes] y los recuadros grises de instrucción. Guarde como M4_EquipoXX_Presentacion_v01.pptx. Lo que muestre debe coincidir con el .pbip, el diccionario y el informe de pruebas del paquete.
Portada: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minutos. Criterio 7 (10 puntos). Muestre una evidencia antes/después en Power BI si es rápida (por ejemplo, un conteo o la medida corregida).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minutos. Criterios 5 (brecha DCAM de la Sesión 01) y 6 (visión de negocio).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 y 30 segundos. Criterio 1 (Power Query).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 y 30 segundos. Criterio 2 (modelo y rendimiento). Las cifras salen de la sección 3 del informe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 y 30 segundos. Criterio 3 (DAX y fichas KPI).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Criterio 4 (visualización y storytelling). Ensaye el recorrido: Estado → Localización →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Criterio 5 (simulación). Mueva el parámetro en vivo: mínimo, centro y máximo.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minutos. Criterio 5 (gobierno). Las pruebas y la arquitectura salen de las secciones 6 y 7 del informe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Criterio 6. Cierre con la decisión, no con la herramienta. Tiempos: 0,5 + 2 + 2 + 2,5 + 2,5 + 2,5 + 4 + 3 + 2 + 1 = 22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M4_EquipoXX · Proyecto Integrador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</a:rPr>
              <a:t>PROYECTO INTEGRADOR · MÓDULO 4 · PRESENTACIÓN FINAL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[Título: la decisión que apoya el tablero, en una frase]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1EA"/>
                </a:solidFill>
              </a:rPr>
              <a:t>[Subcaso · gerencia destinataria]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1EA"/>
                </a:solidFill>
              </a:rPr>
              <a:t>[Equipo XX · integrantes · fecha]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</a:rPr>
              <a:t>Ejemplo: «¿Se paga el molde de COL-01 en menos de 12 meses?» · Acería Andina · Comité de inversiones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Lo que cambiamos después de la PreEntrega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2 min</a:t>
            </a:r>
            <a:endParaRPr lang="en-US" sz="1000" dirty="0"/>
          </a:p>
        </p:txBody>
      </p:sp>
      <p:graphicFrame>
        <p:nvGraphicFramePr>
          <p:cNvPr id="3" name="Tabla mejor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1463040"/>
                <a:gridCol w="27432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Mejora pedida en la Sesión 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Cambio realizado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Evidencia antes → después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La meta de OEE mostraba 85 % para Colada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Medida de meta filtrada por etapa y año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Integrante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85 % → 84 % (COMP-03, 2026)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Aplicada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Instrucción (reemplazar)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F7F7F"/>
                </a:solidFill>
              </a:rPr>
              <a:t>Las 3 a 5 mejoras de la hoja «S12 Mejoras». Estado: Aplicada, Justificada (diga por qué) o Pendiente (con responsable y plan). La rúbrica pide abrir la presentación con esta lista y que cada cambio esté en el .pbip, no solo en la diapositiva.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[Quién decide qué, cada cuánto y con qué pregunta]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C5 · C6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2 min</a:t>
            </a:r>
            <a:endParaRPr lang="en-US" sz="1000" dirty="0"/>
          </a:p>
        </p:txBody>
      </p:sp>
      <p:sp>
        <p:nvSpPr>
          <p:cNvPr id="5" name="Recuadro 1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Usuario y decisión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[Ejemplo: Jefe de Operaciones; aprobar o no el molde de COL-01; comité mensual]</a:t>
            </a:r>
            <a:endParaRPr lang="en-US" sz="1500" dirty="0"/>
          </a:p>
        </p:txBody>
      </p:sp>
      <p:sp>
        <p:nvSpPr>
          <p:cNvPr id="8" name="Recuadro 2"/>
          <p:cNvSpPr/>
          <p:nvPr/>
        </p:nvSpPr>
        <p:spPr>
          <a:xfrm>
            <a:off x="4297680" y="14630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Pregunta en 5 segundos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402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[Ejemplo: ¿Se paga el molde en menos de 12 meses con el beneficio que creemos lograr?]</a:t>
            </a:r>
            <a:endParaRPr lang="en-US" sz="1500" dirty="0"/>
          </a:p>
        </p:txBody>
      </p:sp>
      <p:sp>
        <p:nvSpPr>
          <p:cNvPr id="11" name="Recuadro 3"/>
          <p:cNvSpPr/>
          <p:nvPr/>
        </p:nvSpPr>
        <p:spPr>
          <a:xfrm>
            <a:off x="8046720" y="14630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Brecha DCAM que atiende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2402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[Ejemplo: calidad de datos de producción sin controles; el tablero agrega conteos de control y una página Pruebas]</a:t>
            </a:r>
            <a:endParaRPr lang="en-US" sz="1500" dirty="0"/>
          </a:p>
        </p:txBody>
      </p:sp>
      <p:sp>
        <p:nvSpPr>
          <p:cNvPr id="14" name="Instrucción (reemplazar)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F7F7F"/>
                </a:solidFill>
              </a:rPr>
              <a:t>Hable en términos del negocio: la gerencia destinataria, la decisión y el umbral de acción. Lo técnico viene después.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[Qué tenían los datos y cómo lo resolvimos]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2,5 min</a:t>
            </a:r>
            <a:endParaRPr lang="en-US" sz="1000" dirty="0"/>
          </a:p>
        </p:txBody>
      </p:sp>
      <p:graphicFrame>
        <p:nvGraphicFramePr>
          <p:cNvPr id="5" name="Tabla calid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0584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Regla de calidad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Filas antes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Afectadas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Filas después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Tratamiento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Duplicados exactos en producción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7.764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7.740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Quitar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371600"/>
            <a:ext cx="3776472" cy="3749040"/>
          </a:xfrm>
          <a:prstGeom prst="roundRect">
            <a:avLst>
              <a:gd name="adj" fmla="val 243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15544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Conciliación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[Total del equipo = valor de referencia]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Dato personal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[Columna y tratamiento (A.8.11)]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Portabilidad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[Solo se cambia el parámetro de ruta]</a:t>
            </a:r>
            <a:endParaRPr lang="en-US" sz="1500" dirty="0"/>
          </a:p>
        </p:txBody>
      </p:sp>
      <p:sp>
        <p:nvSpPr>
          <p:cNvPr id="8" name="Instrucción (reemplazar)"/>
          <p:cNvSpPr txBox="1"/>
          <p:nvPr/>
        </p:nvSpPr>
        <p:spPr>
          <a:xfrm>
            <a:off x="548640" y="4023360"/>
            <a:ext cx="694944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F7F7F"/>
                </a:solidFill>
              </a:rPr>
              <a:t>Copie las cifras de la sección 2 del informe de pruebas. Si hay diferencia con la referencia, dígala y explíquela.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[Cómo está armado el modelo y qué tan rápido responde]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2,5 min</a:t>
            </a:r>
            <a:endParaRPr lang="en-US" sz="1000" dirty="0"/>
          </a:p>
        </p:txBody>
      </p:sp>
      <p:sp>
        <p:nvSpPr>
          <p:cNvPr id="5" name="Instrucción (reemplazar)"/>
          <p:cNvSpPr txBox="1"/>
          <p:nvPr/>
        </p:nvSpPr>
        <p:spPr>
          <a:xfrm>
            <a:off x="548640" y="1371600"/>
            <a:ext cx="6400800" cy="420624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F7F7F"/>
                </a:solidFill>
              </a:rPr>
              <a:t>[Pegue aquí una captura de la vista de modelo: hechos al centro, dimensiones alrededor]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463040"/>
            <a:ext cx="4297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Grano de cada hecho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[Ej. producción: una fila por fecha × turno × activo]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Excepciones justificadas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[Ej. fact_caso_inversion sin relación, para que la seguridad no oculte el caso]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Analizador de rendimiento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[Escenario, antes → después en ms y componente dominante]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[Los KPI que miden la decisión]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2,5 min</a:t>
            </a:r>
            <a:endParaRPr lang="en-US" sz="1000" dirty="0"/>
          </a:p>
        </p:txBody>
      </p:sp>
      <p:graphicFrame>
        <p:nvGraphicFramePr>
          <p:cNvPr id="7" name="Tabla KP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2377440"/>
                <a:gridCol w="146304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Fórmula en palabras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Meta y umbrales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Validación (esperado = Power BI)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OEE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Disponibilidad × Rendimiento × Calidad, con sumas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Meta 84 % (Colada 2026); rojo &lt; 75 %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Jefe de Colada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COMP-03, 2025: 78,1 % = 78,1 %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Instrucción (reemplazar)"/>
          <p:cNvSpPr txBox="1"/>
          <p:nvPr/>
        </p:nvSpPr>
        <p:spPr>
          <a:xfrm>
            <a:off x="548640" y="3291840"/>
            <a:ext cx="1106424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F7F7F"/>
                </a:solidFill>
              </a:rPr>
              <a:t>Tres KPI de la hoja «Fichas KPI» (el catálogo completo va en el paquete). La validación sale de la sección 4 del informe de pruebas.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Demostración del tablero en Power BI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4 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63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Estado: la pregunta y la respuesta en las tarjetas, con meta y brecha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23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Localización: dónde está el problema (área, activo, turno, mes)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Evidencia: el detalle que lo explica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Una interacción que responde una pregunta del usuario</a:t>
            </a:r>
            <a:endParaRPr lang="en-US" sz="1700" dirty="0"/>
          </a:p>
        </p:txBody>
      </p:sp>
      <p:sp>
        <p:nvSpPr>
          <p:cNvPr id="17" name="Instrucción (reemplazar)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F7F7F"/>
                </a:solidFill>
              </a:rPr>
              <a:t>Cambie a Power BI Desktop con el .pbip entregado ya abierto y actualizado. Los colores siguen las reglas de las fichas KPI; diga en voz alta la regla de cada semáforo.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[Recomendación: aprobar, validar o detener, y con qué condición]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3 min</a:t>
            </a:r>
            <a:endParaRPr lang="en-US" sz="1000" dirty="0"/>
          </a:p>
        </p:txBody>
      </p:sp>
      <p:graphicFrame>
        <p:nvGraphicFramePr>
          <p:cNvPr id="9" name="Tabla escena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Valor del parámetro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Resultado del escenario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Lectura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% Beneficio = 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Payback 12,50 meses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No cumple el máximo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% Beneficio = 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Payback 8,33 meses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Cumple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% Beneficio = 100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Payback 6,25 meses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Cumple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Umbral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52,08 %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Debajo de este valor no se paga en 12 meses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680960" y="1371600"/>
            <a:ext cx="3931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Recomendación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[Ej. Validar: aprobar si una prueba piloto confirma al menos 55 % del beneficio prometido]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Impacto cuantificado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[USD, meses o unidades]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Qué evidencia real lo confirmaría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[Los datos son sintéticos]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Quién ve qué, y cómo se publicaría</a:t>
            </a:r>
            <a:endParaRPr lang="en-US" sz="2600" dirty="0"/>
          </a:p>
        </p:txBody>
      </p:sp>
      <p:sp>
        <p:nvSpPr>
          <p:cNvPr id="3" name="Etiqueta criterio"/>
          <p:cNvSpPr/>
          <p:nvPr/>
        </p:nvSpPr>
        <p:spPr>
          <a:xfrm>
            <a:off x="10241280" y="4572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</a:rPr>
              <a:t>C5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2 min</a:t>
            </a:r>
            <a:endParaRPr lang="en-US" sz="1000" dirty="0"/>
          </a:p>
        </p:txBody>
      </p:sp>
      <p:graphicFrame>
        <p:nvGraphicFramePr>
          <p:cNvPr id="10" name="Tabla segurid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217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Prueba con Ver como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Usuario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Filas esperadas = vistas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Positiva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sloayza (COMP-04, turno B)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645 = 645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Negativa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sloayza, filas de COMP-07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0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Sin mapeo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correo que no está en la tabla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</a:rPr>
                        <a:t>0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371600"/>
            <a:ext cx="4507992" cy="4206240"/>
          </a:xfrm>
          <a:prstGeom prst="roundRect">
            <a:avLst>
              <a:gd name="adj" fmla="val 217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60920" y="1554480"/>
            <a:ext cx="4069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Arquitectura prevista (no ejecutada)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[Datos → puerta de enlace (modo) → modelo en un área de trabajo → aplicación → usuarios como Viewer]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</a:rPr>
              <a:t>Actualización: [horario y quién la revisa]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7A1F"/>
                </a:solidFill>
              </a:rPr>
              <a:t>Límite: sin licencias, no se publicó ni se probó en Power BI Service.</a:t>
            </a:r>
            <a:endParaRPr lang="en-US" sz="1500" dirty="0"/>
          </a:p>
        </p:txBody>
      </p:sp>
      <p:sp>
        <p:nvSpPr>
          <p:cNvPr id="8" name="Instrucción (reemplazar)"/>
          <p:cNvSpPr txBox="1"/>
          <p:nvPr/>
        </p:nvSpPr>
        <p:spPr>
          <a:xfrm>
            <a:off x="548640" y="3474720"/>
            <a:ext cx="621792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F7F7F"/>
                </a:solidFill>
              </a:rPr>
              <a:t>Haga una prueba en vivo con Modelado → Ver como, marcando el rol además de «Otro usuario».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[La recomendación y su valor, en una frase]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490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9E1EA"/>
                </a:solidFill>
              </a:rPr>
              <a:t>Valor para la gerencia: </a:t>
            </a:r>
            <a:pPr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D9E1EA"/>
                </a:solidFill>
              </a:rPr>
              <a:t>[cifra y supuesto]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9E1EA"/>
                </a:solidFill>
              </a:rPr>
              <a:t>Límites del análisis: </a:t>
            </a:r>
            <a:pPr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D9E1EA"/>
                </a:solidFill>
              </a:rPr>
              <a:t>[qué no explican los datos]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9E1EA"/>
                </a:solidFill>
              </a:rPr>
              <a:t>Siguiente paso: </a:t>
            </a:r>
            <a:pPr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D9E1EA"/>
                </a:solidFill>
              </a:rPr>
              <a:t>[quién, qué y cuándo]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1F"/>
                </a:solidFill>
              </a:rPr>
              <a:t>C6 · 1 min · Luego, 8 minutos de preguntas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AD PI">
  <a:themeElements>
    <a:clrScheme name="GIAD PI">
      <a:dk1>
        <a:srgbClr val="1F2937"/>
      </a:dk1>
      <a:lt1>
        <a:srgbClr val="FFFFFF"/>
      </a:lt1>
      <a:dk2>
        <a:srgbClr val="1F3A5F"/>
      </a:dk2>
      <a:lt2>
        <a:srgbClr val="F2F2F2"/>
      </a:lt2>
      <a:accent1>
        <a:srgbClr val="1F3A5F"/>
      </a:accent1>
      <a:accent2>
        <a:srgbClr val="E07A1F"/>
      </a:accent2>
      <a:accent3>
        <a:srgbClr val="7F7F7F"/>
      </a:accent3>
      <a:accent4>
        <a:srgbClr val="D9E1EA"/>
      </a:accent4>
      <a:accent5>
        <a:srgbClr val="2E7D32"/>
      </a:accent5>
      <a:accent6>
        <a:srgbClr val="B91C1C"/>
      </a:accent6>
      <a:hlink>
        <a:srgbClr val="1F3A5F"/>
      </a:hlink>
      <a:folHlink>
        <a:srgbClr val="7F7F7F"/>
      </a:folHlink>
    </a:clrScheme>
    <a:fontScheme name="GIAD P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presentación final · Proyecto Integrador</dc:title>
  <dc:subject>PptxGenJS Presentation</dc:subject>
  <dc:creator>PptxGenJS</dc:creator>
  <cp:lastModifiedBy>PptxGenJS</cp:lastModifiedBy>
  <cp:revision>1</cp:revision>
  <dcterms:created xsi:type="dcterms:W3CDTF">2026-10-19T17:29:51Z</dcterms:created>
  <dcterms:modified xsi:type="dcterms:W3CDTF">2026-10-19T17:29:51Z</dcterms:modified>
</cp:coreProperties>
</file>