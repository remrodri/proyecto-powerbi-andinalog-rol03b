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140096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1858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2892055" y="4295553"/>
            <a:ext cx="1020726" cy="2906233"/>
          </a:xfrm>
          <a:prstGeom prst="curvedConnector3">
            <a:avLst/>
          </a:prstGeom>
          <a:ln w="38100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6464595" y="3444948"/>
            <a:ext cx="1020725" cy="850605"/>
          </a:xfrm>
          <a:prstGeom prst="curvedConnector3">
            <a:avLst/>
          </a:prstGeom>
          <a:ln w="2857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696893" y="3019646"/>
            <a:ext cx="1360967" cy="425302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696893" y="3444948"/>
            <a:ext cx="1360967" cy="425303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64595" y="4295553"/>
            <a:ext cx="1020725" cy="850605"/>
          </a:xfrm>
          <a:prstGeom prst="curvedConnector3">
            <a:avLst/>
          </a:prstGeom>
          <a:ln w="2857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696893" y="4720855"/>
            <a:ext cx="1360967" cy="425303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6893" y="5146158"/>
            <a:ext cx="1360967" cy="425302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892055" y="6847367"/>
            <a:ext cx="1020726" cy="354419"/>
          </a:xfrm>
          <a:prstGeom prst="curvedConnector3">
            <a:avLst/>
          </a:prstGeom>
          <a:ln w="38100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64595" y="6847367"/>
            <a:ext cx="1020725" cy="0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96893" y="6422065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6893" y="6847367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92055" y="7201786"/>
            <a:ext cx="1020726" cy="3260651"/>
          </a:xfrm>
          <a:prstGeom prst="curvedConnector3">
            <a:avLst/>
          </a:prstGeom>
          <a:ln w="381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64595" y="9399181"/>
            <a:ext cx="1020725" cy="1063256"/>
          </a:xfrm>
          <a:prstGeom prst="curvedConnector3">
            <a:avLst/>
          </a:prstGeom>
          <a:ln w="285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696893" y="8123274"/>
            <a:ext cx="1360967" cy="1275907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696893" y="8973879"/>
            <a:ext cx="1360967" cy="425302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96893" y="9399181"/>
            <a:ext cx="1360967" cy="425302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6893" y="9399181"/>
            <a:ext cx="1360967" cy="1275907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64595" y="10462437"/>
            <a:ext cx="1020725" cy="1063256"/>
          </a:xfrm>
          <a:prstGeom prst="curvedConnector3">
            <a:avLst/>
          </a:prstGeom>
          <a:ln w="285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96893" y="11525693"/>
            <a:ext cx="1360967" cy="0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0241" y="1607642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l"/>
            <a:r>
              <a:rPr sz="1300" b="1" i="0">
                <a:solidFill>
                  <a:srgbClr val="16543A"/>
                </a:solidFill>
                <a:latin typeface="Calibri"/>
              </a:rPr>
              <a:t>MAPA DE INDICADORES — SUBCASO 01A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0208" y="1607642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r"/>
            <a:r>
              <a:rPr lang="es-BO" sz="1200" b="0" i="0" dirty="0">
                <a:solidFill>
                  <a:srgbClr val="666C77"/>
                </a:solidFill>
                <a:latin typeface="Calibri"/>
              </a:rPr>
              <a:t>GIAD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· </a:t>
            </a:r>
            <a:r>
              <a:rPr sz="1200" b="0" i="0" dirty="0" err="1">
                <a:solidFill>
                  <a:srgbClr val="666C77"/>
                </a:solidFill>
                <a:latin typeface="Calibri"/>
              </a:rPr>
              <a:t>Módulo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4 · Power BI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241" y="6010939"/>
            <a:ext cx="2551813" cy="2381693"/>
          </a:xfrm>
          <a:prstGeom prst="roundRect">
            <a:avLst>
              <a:gd name="adj" fmla="val 14000"/>
            </a:avLst>
          </a:prstGeom>
          <a:solidFill>
            <a:srgbClr val="1F6F4E"/>
          </a:solidFill>
          <a:ln w="15875">
            <a:solidFill>
              <a:srgbClr val="165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MANDATO · AITSA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Viabilidad y Márgenes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Evaluar la viabilidad del portafolio, el margen corporativo y el impacto económico de las penalidades por incumplimiento de niveles de servicio.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12781" y="3870251"/>
            <a:ext cx="2551813" cy="850604"/>
          </a:xfrm>
          <a:prstGeom prst="roundRect">
            <a:avLst>
              <a:gd name="adj" fmla="val 16000"/>
            </a:avLst>
          </a:prstGeom>
          <a:solidFill>
            <a:srgbClr val="E4EEF3"/>
          </a:solidFill>
          <a:ln w="15875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4F6B"/>
                </a:solidFill>
                <a:latin typeface="Calibri"/>
              </a:rPr>
              <a:t>Margen y Penalidades SLA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Por proyecto y cliente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85320" y="3121719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1F4F6B"/>
                </a:solidFill>
                <a:latin typeface="Calibri"/>
              </a:rPr>
              <a:t>Ingresos y Costo Base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proyecto → cliente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57860" y="2747453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Ingreso Real (Bs)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57860" y="3598057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Costo Base (Bs)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85320" y="4822928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1F4F6B"/>
                </a:solidFill>
                <a:latin typeface="Calibri"/>
              </a:rPr>
              <a:t>Penalidades y Margen Final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ticket → proyecto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057860" y="4448662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Penalidad Total (Bs)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57860" y="529926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Margen Después (Bs)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12781" y="6422065"/>
            <a:ext cx="2551813" cy="850604"/>
          </a:xfrm>
          <a:prstGeom prst="roundRect">
            <a:avLst>
              <a:gd name="adj" fmla="val 16000"/>
            </a:avLst>
          </a:prstGeom>
          <a:solidFill>
            <a:srgbClr val="F6EEDF"/>
          </a:solidFill>
          <a:ln w="15875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7A551C"/>
                </a:solidFill>
                <a:latin typeface="Calibri"/>
              </a:rPr>
              <a:t>Segmentación de Clientes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Sector, tier y facturación recurrente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85320" y="6524137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Perfil Comercial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dimensión cliente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057860" y="6149871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Facturación Recurrente Promedio (Bs)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57860" y="700047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N Clientes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2781" y="9904433"/>
            <a:ext cx="2551813" cy="1116007"/>
          </a:xfrm>
          <a:prstGeom prst="roundRect">
            <a:avLst>
              <a:gd name="adj" fmla="val 16000"/>
            </a:avLst>
          </a:prstGeom>
          <a:solidFill>
            <a:srgbClr val="EFE8F5"/>
          </a:solidFill>
          <a:ln w="1587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553875"/>
                </a:solidFill>
                <a:latin typeface="Calibri"/>
              </a:rPr>
              <a:t>Índice de Exposición a Riesgo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Retrasos, retrabajo, mora y penalidades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85320" y="9075951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553875"/>
                </a:solidFill>
                <a:latin typeface="Calibri"/>
              </a:rPr>
              <a:t>Componentes Normalizados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ALL() sobre la dimensión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57860" y="785108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Retraso Norm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057860" y="8701685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Retrabajo Norm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057860" y="955229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Mora Norm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57860" y="10402894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Penalidad Norm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85320" y="11202463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553875"/>
                </a:solidFill>
                <a:latin typeface="Calibri"/>
              </a:rPr>
              <a:t>Resultado Compuesto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suma de componentes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57860" y="11253499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Índice Exposición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0241" y="8732874"/>
            <a:ext cx="2551813" cy="12759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666C77"/>
                </a:solidFill>
                <a:latin typeface="Calibri"/>
              </a:rPr>
              <a:t>LEYENDA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Indicador (medida DAX)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◆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Punto de cruce (relación del modelo)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0241" y="12265719"/>
            <a:ext cx="13949916" cy="340241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ctr"/>
            <a:r>
              <a:rPr sz="1050" b="0" i="1">
                <a:solidFill>
                  <a:srgbClr val="666C77"/>
                </a:solidFill>
                <a:latin typeface="Calibri"/>
              </a:rPr>
              <a:t>Fuente: modelo de datos y medidas DAX — GIAD Módulo 4, Subcaso 01A (AITSA, Gerencia General y Dirección Estratégica) · Datos sintéticos Silver v10 (oficiales)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2892055" y="3444948"/>
            <a:ext cx="1020726" cy="3331535"/>
          </a:xfrm>
          <a:prstGeom prst="curvedConnector3">
            <a:avLst/>
          </a:prstGeom>
          <a:ln w="38100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6464595" y="3019646"/>
            <a:ext cx="1020725" cy="425302"/>
          </a:xfrm>
          <a:prstGeom prst="curvedConnector3">
            <a:avLst/>
          </a:prstGeom>
          <a:ln w="2857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696893" y="3019646"/>
            <a:ext cx="1360967" cy="0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64595" y="3444948"/>
            <a:ext cx="1020725" cy="425303"/>
          </a:xfrm>
          <a:prstGeom prst="curvedConnector3">
            <a:avLst/>
          </a:prstGeom>
          <a:ln w="2857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96893" y="3870251"/>
            <a:ext cx="1360967" cy="0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892055" y="6209413"/>
            <a:ext cx="1020726" cy="567070"/>
          </a:xfrm>
          <a:prstGeom prst="curvedConnector3">
            <a:avLst/>
          </a:prstGeom>
          <a:ln w="38100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64595" y="5146158"/>
            <a:ext cx="1020725" cy="1063255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6893" y="4720855"/>
            <a:ext cx="1360967" cy="425303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696893" y="5146158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64595" y="6209413"/>
            <a:ext cx="1020725" cy="1063256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696893" y="6422065"/>
            <a:ext cx="1360967" cy="850604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96893" y="7272669"/>
            <a:ext cx="1360967" cy="0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96893" y="7272669"/>
            <a:ext cx="1360967" cy="850605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2055" y="6776483"/>
            <a:ext cx="1020726" cy="3898605"/>
          </a:xfrm>
          <a:prstGeom prst="curvedConnector3">
            <a:avLst/>
          </a:prstGeom>
          <a:ln w="381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464595" y="9824483"/>
            <a:ext cx="1020725" cy="850605"/>
          </a:xfrm>
          <a:prstGeom prst="curvedConnector3">
            <a:avLst/>
          </a:prstGeom>
          <a:ln w="285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696893" y="8973879"/>
            <a:ext cx="1360967" cy="850604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6893" y="9824483"/>
            <a:ext cx="1360967" cy="0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6893" y="9824483"/>
            <a:ext cx="1360967" cy="850605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64595" y="10675088"/>
            <a:ext cx="1020725" cy="850605"/>
          </a:xfrm>
          <a:prstGeom prst="curvedConnector3">
            <a:avLst/>
          </a:prstGeom>
          <a:ln w="285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96893" y="11525693"/>
            <a:ext cx="1360967" cy="0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0241" y="1607642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l"/>
            <a:r>
              <a:rPr sz="1300" b="1" i="0">
                <a:solidFill>
                  <a:srgbClr val="16543A"/>
                </a:solidFill>
                <a:latin typeface="Calibri"/>
              </a:rPr>
              <a:t>MAPA DE INDICADORES — SUBCASO 01B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0208" y="1607642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r"/>
            <a:r>
              <a:rPr lang="es-BO" sz="1200" b="0" i="0" dirty="0">
                <a:solidFill>
                  <a:srgbClr val="666C77"/>
                </a:solidFill>
                <a:latin typeface="Calibri"/>
              </a:rPr>
              <a:t>GIAD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· </a:t>
            </a:r>
            <a:r>
              <a:rPr sz="1200" b="0" i="0" dirty="0" err="1">
                <a:solidFill>
                  <a:srgbClr val="666C77"/>
                </a:solidFill>
                <a:latin typeface="Calibri"/>
              </a:rPr>
              <a:t>Módulo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4 · Power BI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241" y="5585637"/>
            <a:ext cx="2551813" cy="2381693"/>
          </a:xfrm>
          <a:prstGeom prst="roundRect">
            <a:avLst>
              <a:gd name="adj" fmla="val 14000"/>
            </a:avLst>
          </a:prstGeom>
          <a:solidFill>
            <a:srgbClr val="1F6F4E"/>
          </a:solidFill>
          <a:ln w="15875">
            <a:solidFill>
              <a:srgbClr val="165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MANDATO · AITSA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Estabilidad y Asignación Técnica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Explicar la estabilidad operativa de las plantas y mejorar la asignación de técnicos según especialidad, certificación, carga y criticidad del ticket.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2781" y="2994744"/>
            <a:ext cx="2551813" cy="900408"/>
          </a:xfrm>
          <a:prstGeom prst="roundRect">
            <a:avLst>
              <a:gd name="adj" fmla="val 16000"/>
            </a:avLst>
          </a:prstGeom>
          <a:solidFill>
            <a:srgbClr val="E4EEF3"/>
          </a:solidFill>
          <a:ln w="15875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4F6B"/>
                </a:solidFill>
                <a:latin typeface="Calibri"/>
              </a:rPr>
              <a:t>Brecha de Competencia Técnica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Ticket vs. técnico asignado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5320" y="2696416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1F4F6B"/>
                </a:solidFill>
                <a:latin typeface="Calibri"/>
              </a:rPr>
              <a:t>Coincidencia de Especialidad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técnico → ticket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57860" y="2747453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% Tickets con Especialidad Coincidente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85320" y="3547021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1F4F6B"/>
                </a:solidFill>
                <a:latin typeface="Calibri"/>
              </a:rPr>
              <a:t>Brecha de Certificación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nivel numérico 1–4 (v10)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057860" y="3598057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Brecha Certificación Promedio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2781" y="5784111"/>
            <a:ext cx="2551813" cy="850604"/>
          </a:xfrm>
          <a:prstGeom prst="roundRect">
            <a:avLst>
              <a:gd name="adj" fmla="val 16000"/>
            </a:avLst>
          </a:prstGeom>
          <a:solidFill>
            <a:srgbClr val="F6EEDF"/>
          </a:solidFill>
          <a:ln w="15875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7A551C"/>
                </a:solidFill>
                <a:latin typeface="Calibri"/>
              </a:rPr>
              <a:t>Anomalías de Planta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Telemetría, SCADA y retrabajo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85320" y="4822928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Telemetría IoT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por instalación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057860" y="4448662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Temp Promedio (°C)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057860" y="529926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Vibración Promedio (RMS)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85320" y="6949440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Eventos e Impacto Operativo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instalación → proyecto → ticket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57860" y="6149871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N Eventos SCADA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57860" y="700047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Horas Retrabajo Total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57860" y="785108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Desvío SLA Total (h)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2781" y="10249786"/>
            <a:ext cx="2551813" cy="850604"/>
          </a:xfrm>
          <a:prstGeom prst="roundRect">
            <a:avLst>
              <a:gd name="adj" fmla="val 16000"/>
            </a:avLst>
          </a:prstGeom>
          <a:solidFill>
            <a:srgbClr val="EFE8F5"/>
          </a:solidFill>
          <a:ln w="1587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553875"/>
                </a:solidFill>
                <a:latin typeface="Calibri"/>
              </a:rPr>
              <a:t>Priorización de Técnicos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Severidad, capacidad y carga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85320" y="9501253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553875"/>
                </a:solidFill>
                <a:latin typeface="Calibri"/>
              </a:rPr>
              <a:t>Carga por Severidad y Horas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técnico → ticket / hr_costs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57860" y="8701685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Carga Severidad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57860" y="955229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Horas Extra Total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57860" y="10402894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Horas Retrabajo Asignadas Total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85320" y="11202463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553875"/>
                </a:solidFill>
                <a:latin typeface="Calibri"/>
              </a:rPr>
              <a:t>Índice Compuesto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ponderación del equipo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57860" y="11253499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Índice Carga Técnico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0241" y="8307572"/>
            <a:ext cx="2551813" cy="12759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666C77"/>
                </a:solidFill>
                <a:latin typeface="Calibri"/>
              </a:rPr>
              <a:t>LEYENDA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Indicador (medida DAX)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◆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Punto de cruce (relación del modelo)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241" y="12265719"/>
            <a:ext cx="13949916" cy="340241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ctr"/>
            <a:r>
              <a:rPr sz="1050" b="0" i="1">
                <a:solidFill>
                  <a:srgbClr val="666C77"/>
                </a:solidFill>
                <a:latin typeface="Calibri"/>
              </a:rPr>
              <a:t>Fuente: modelo de datos y medidas DAX — GIAD Módulo 4, Subcaso 01B (AITSA, Dirección de Operaciones y PMO) · Datos sintéticos Silver v10 (oficiales)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2892055" y="2169041"/>
            <a:ext cx="1020726" cy="3969489"/>
          </a:xfrm>
          <a:prstGeom prst="curvedConnector3">
            <a:avLst/>
          </a:prstGeom>
          <a:ln w="38100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464595" y="2169041"/>
            <a:ext cx="1020725" cy="0"/>
          </a:xfrm>
          <a:prstGeom prst="curvedConnector3">
            <a:avLst/>
          </a:prstGeom>
          <a:ln w="2857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696893" y="1743739"/>
            <a:ext cx="1360967" cy="425302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696893" y="2169041"/>
            <a:ext cx="1360967" cy="425303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92055" y="5571460"/>
            <a:ext cx="1020726" cy="567070"/>
          </a:xfrm>
          <a:prstGeom prst="curvedConnector3">
            <a:avLst/>
          </a:prstGeom>
          <a:ln w="38100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464595" y="3870251"/>
            <a:ext cx="1020725" cy="1701209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696893" y="3444948"/>
            <a:ext cx="1360967" cy="425303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96893" y="3870251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64595" y="5571460"/>
            <a:ext cx="1020725" cy="0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96893" y="5146158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6893" y="5571460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64595" y="5571460"/>
            <a:ext cx="1020725" cy="1701209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696893" y="6847367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96893" y="7272669"/>
            <a:ext cx="1360967" cy="425303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92055" y="6138530"/>
            <a:ext cx="1020726" cy="4536558"/>
          </a:xfrm>
          <a:prstGeom prst="curvedConnector3">
            <a:avLst/>
          </a:prstGeom>
          <a:ln w="381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464595" y="9399181"/>
            <a:ext cx="1020725" cy="1275907"/>
          </a:xfrm>
          <a:prstGeom prst="curvedConnector3">
            <a:avLst/>
          </a:prstGeom>
          <a:ln w="285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696893" y="8548576"/>
            <a:ext cx="1360967" cy="850605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6893" y="9399181"/>
            <a:ext cx="1360967" cy="0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96893" y="9399181"/>
            <a:ext cx="1360967" cy="850605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64595" y="10675088"/>
            <a:ext cx="1020725" cy="1275907"/>
          </a:xfrm>
          <a:prstGeom prst="curvedConnector3">
            <a:avLst/>
          </a:prstGeom>
          <a:ln w="285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96893" y="11100390"/>
            <a:ext cx="1360967" cy="850605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96893" y="11950995"/>
            <a:ext cx="1360967" cy="0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6893" y="11950995"/>
            <a:ext cx="1360967" cy="850605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0241" y="331735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l"/>
            <a:r>
              <a:rPr sz="1300" b="1" i="0">
                <a:solidFill>
                  <a:srgbClr val="16543A"/>
                </a:solidFill>
                <a:latin typeface="Calibri"/>
              </a:rPr>
              <a:t>MAPA DE INDICADORES — SUBCASO 02A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0208" y="331735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r"/>
            <a:r>
              <a:rPr lang="es-BO" sz="1200" b="0" i="0" dirty="0">
                <a:solidFill>
                  <a:srgbClr val="666C77"/>
                </a:solidFill>
                <a:latin typeface="Calibri"/>
              </a:rPr>
              <a:t>GIAD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· </a:t>
            </a:r>
            <a:r>
              <a:rPr sz="1200" b="0" i="0" dirty="0" err="1">
                <a:solidFill>
                  <a:srgbClr val="666C77"/>
                </a:solidFill>
                <a:latin typeface="Calibri"/>
              </a:rPr>
              <a:t>Módulo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4 · Power BI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241" y="4947683"/>
            <a:ext cx="2551813" cy="2381693"/>
          </a:xfrm>
          <a:prstGeom prst="roundRect">
            <a:avLst>
              <a:gd name="adj" fmla="val 14000"/>
            </a:avLst>
          </a:prstGeom>
          <a:solidFill>
            <a:srgbClr val="1F6F4E"/>
          </a:solidFill>
          <a:ln w="15875">
            <a:solidFill>
              <a:srgbClr val="165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MANDATO · REDNEXO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Sostenibilidad Económica de Red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Comparar la sostenibilidad económica de tecnologías legadas y fibra óptica, incorporando churn, calidad del servicio, OPEX, CAPEX y parámetros financieros comunes.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2781" y="1718837"/>
            <a:ext cx="2551813" cy="900408"/>
          </a:xfrm>
          <a:prstGeom prst="roundRect">
            <a:avLst>
              <a:gd name="adj" fmla="val 16000"/>
            </a:avLst>
          </a:prstGeom>
          <a:solidFill>
            <a:srgbClr val="E4EEF3"/>
          </a:solidFill>
          <a:ln w="15875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4F6B"/>
                </a:solidFill>
                <a:latin typeface="Calibri"/>
              </a:rPr>
              <a:t>Riesgo de Abandono (Churn)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MTTR, reclamos y bajas a 90 días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85320" y="1845812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1F4F6B"/>
                </a:solidFill>
                <a:latin typeface="Calibri"/>
              </a:rPr>
              <a:t>Soporte por Abonado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dim_abonado → ticket / snapshot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57860" y="147154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Tasa Churn 90d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057860" y="232215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MTTR Promedio (h)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12781" y="5121256"/>
            <a:ext cx="2551813" cy="900408"/>
          </a:xfrm>
          <a:prstGeom prst="roundRect">
            <a:avLst>
              <a:gd name="adj" fmla="val 16000"/>
            </a:avLst>
          </a:prstGeom>
          <a:solidFill>
            <a:srgbClr val="F6EEDF"/>
          </a:solidFill>
          <a:ln w="15875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7A551C"/>
                </a:solidFill>
                <a:latin typeface="Calibri"/>
              </a:rPr>
              <a:t>Costo-Beneficio de Migración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Por zona y tecnología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85320" y="3547021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Ingresos y Base de Abonados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dim_zona_tec (zona|tec.)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57860" y="3172755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Ingreso (Bs)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57860" y="402336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Abonados (DISTINCTCOUNT)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85320" y="5248230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Costos de Red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OPEX nodo-mes · CAPEX zona×tec.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57860" y="4873964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OPEX por Nodo-Mes (Bs)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057860" y="5724569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CAPEX Migración (Bs)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85320" y="6949440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Ahorro Incremental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migrar a FTTH · base 2025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57860" y="6575173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Ahorro OPEX Mensual (Bs)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57860" y="7425778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Bajas Evitadas Mes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2781" y="10224884"/>
            <a:ext cx="2551813" cy="900408"/>
          </a:xfrm>
          <a:prstGeom prst="roundRect">
            <a:avLst>
              <a:gd name="adj" fmla="val 16000"/>
            </a:avLst>
          </a:prstGeom>
          <a:solidFill>
            <a:srgbClr val="EFE8F5"/>
          </a:solidFill>
          <a:ln w="1587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553875"/>
                </a:solidFill>
                <a:latin typeface="Calibri"/>
              </a:rPr>
              <a:t>Escenarios de Inversión Comparables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Misma tasa, horizonte y CAC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85320" y="9075951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553875"/>
                </a:solidFill>
                <a:latin typeface="Calibri"/>
              </a:rPr>
              <a:t>Parámetros Comunes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tabla desconectada (SELECTEDVALUE)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57860" y="8276383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Costo Adquisición Cliente (Bs)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057860" y="9126987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Crecimiento Tarifa Anual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057860" y="9977592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Tasa Descuento Anual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85320" y="11627765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553875"/>
                </a:solidFill>
                <a:latin typeface="Calibri"/>
              </a:rPr>
              <a:t>Resultado de la Migración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VAN 60 meses (anualidad)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57860" y="10828197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Flujo Mensual Migración (Bs)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057860" y="11678801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VAN Migración (Bs)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057860" y="1252940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Payback (meses)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0241" y="7669618"/>
            <a:ext cx="2551813" cy="12759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666C77"/>
                </a:solidFill>
                <a:latin typeface="Calibri"/>
              </a:rPr>
              <a:t>LEYENDA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Indicador (medida DAX)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◆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Punto de cruce (relación del modelo)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0241" y="13541626"/>
            <a:ext cx="13949916" cy="340241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ctr"/>
            <a:r>
              <a:rPr sz="1050" b="0" i="1">
                <a:solidFill>
                  <a:srgbClr val="666C77"/>
                </a:solidFill>
                <a:latin typeface="Calibri"/>
              </a:rPr>
              <a:t>Fuente: modelo de datos y medidas DAX — GIAD Módulo 4, Subcaso 02A (RedNexo, Estrategia y Finanzas) · Datos sintéticos Silver v10 (oficiales)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2892055" y="4295553"/>
            <a:ext cx="1020726" cy="3544186"/>
          </a:xfrm>
          <a:prstGeom prst="curvedConnector3">
            <a:avLst/>
          </a:prstGeom>
          <a:ln w="38100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6464595" y="3444948"/>
            <a:ext cx="1020725" cy="850605"/>
          </a:xfrm>
          <a:prstGeom prst="curvedConnector3">
            <a:avLst/>
          </a:prstGeom>
          <a:ln w="2857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696893" y="3019646"/>
            <a:ext cx="1360967" cy="425302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696893" y="3444948"/>
            <a:ext cx="1360967" cy="425303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64595" y="4295553"/>
            <a:ext cx="1020725" cy="850605"/>
          </a:xfrm>
          <a:prstGeom prst="curvedConnector3">
            <a:avLst/>
          </a:prstGeom>
          <a:ln w="2857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696893" y="4720855"/>
            <a:ext cx="1360967" cy="425303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6893" y="5146158"/>
            <a:ext cx="1360967" cy="425302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92055" y="7839739"/>
            <a:ext cx="1020726" cy="283535"/>
          </a:xfrm>
          <a:prstGeom prst="curvedConnector3">
            <a:avLst/>
          </a:prstGeom>
          <a:ln w="38100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64595" y="6847367"/>
            <a:ext cx="1020725" cy="1275907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96893" y="6422065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6893" y="6847367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64595" y="8123274"/>
            <a:ext cx="1020725" cy="0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96893" y="8123274"/>
            <a:ext cx="1360967" cy="0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64595" y="8123274"/>
            <a:ext cx="1020725" cy="1275907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696893" y="8973879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96893" y="9399181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92055" y="7839739"/>
            <a:ext cx="1020726" cy="3260651"/>
          </a:xfrm>
          <a:prstGeom prst="curvedConnector3">
            <a:avLst/>
          </a:prstGeom>
          <a:ln w="38100">
            <a:solidFill>
              <a:srgbClr val="5B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64595" y="11100390"/>
            <a:ext cx="1020725" cy="0"/>
          </a:xfrm>
          <a:prstGeom prst="curvedConnector3">
            <a:avLst/>
          </a:prstGeom>
          <a:ln w="28575">
            <a:solidFill>
              <a:srgbClr val="5B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696893" y="10675088"/>
            <a:ext cx="1360967" cy="425302"/>
          </a:xfrm>
          <a:prstGeom prst="curvedConnector3">
            <a:avLst/>
          </a:prstGeom>
          <a:ln w="22225">
            <a:solidFill>
              <a:srgbClr val="5B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96893" y="11100390"/>
            <a:ext cx="1360967" cy="425303"/>
          </a:xfrm>
          <a:prstGeom prst="curvedConnector3">
            <a:avLst/>
          </a:prstGeom>
          <a:ln w="22225">
            <a:solidFill>
              <a:srgbClr val="5B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0241" y="1607642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l"/>
            <a:r>
              <a:rPr sz="1300" b="1" i="0">
                <a:solidFill>
                  <a:srgbClr val="16543A"/>
                </a:solidFill>
                <a:latin typeface="Calibri"/>
              </a:rPr>
              <a:t>MAPA DE INDICADORES — SUBCASO 02B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0208" y="1607642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r"/>
            <a:r>
              <a:rPr lang="es-BO" sz="1200" b="0" i="0" dirty="0">
                <a:solidFill>
                  <a:srgbClr val="666C77"/>
                </a:solidFill>
                <a:latin typeface="Calibri"/>
              </a:rPr>
              <a:t>GIAD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· </a:t>
            </a:r>
            <a:r>
              <a:rPr sz="1200" b="0" i="0" dirty="0" err="1">
                <a:solidFill>
                  <a:srgbClr val="666C77"/>
                </a:solidFill>
                <a:latin typeface="Calibri"/>
              </a:rPr>
              <a:t>Módulo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4 · Power BI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241" y="6648893"/>
            <a:ext cx="2551813" cy="2381693"/>
          </a:xfrm>
          <a:prstGeom prst="roundRect">
            <a:avLst>
              <a:gd name="adj" fmla="val 14000"/>
            </a:avLst>
          </a:prstGeom>
          <a:solidFill>
            <a:srgbClr val="1F6F4E"/>
          </a:solidFill>
          <a:ln w="15875">
            <a:solidFill>
              <a:srgbClr val="165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MANDATO · REDNEXO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Priorizar Incidentes y Cuadrillas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Priorizar incidentes y cuadrillas cruzando alarmas de red, tecnología instalada, zona, historial de soporte, capacidad y experiencia operativa.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2781" y="3869636"/>
            <a:ext cx="2551813" cy="851834"/>
          </a:xfrm>
          <a:prstGeom prst="roundRect">
            <a:avLst>
              <a:gd name="adj" fmla="val 16000"/>
            </a:avLst>
          </a:prstGeom>
          <a:solidFill>
            <a:srgbClr val="E4EEF3"/>
          </a:solidFill>
          <a:ln w="15875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4F6B"/>
                </a:solidFill>
                <a:latin typeface="Calibri"/>
              </a:rPr>
              <a:t>Priorizar Incidentes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Mapa de prioridad — Zona × Tecnología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5320" y="3121719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1F4F6B"/>
                </a:solidFill>
                <a:latin typeface="Calibri"/>
              </a:rPr>
              <a:t>Degradación de Red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nodo → zona (dim_zona)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57860" y="2747453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Atenuación Promedio (dB)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57860" y="3598057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Pérdida de Paquetes Promedio (%)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85320" y="4822928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1F4F6B"/>
                </a:solidFill>
                <a:latin typeface="Calibri"/>
              </a:rPr>
              <a:t>Impacto en Soporte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dim_abonado → zona (dim_zona)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57860" y="4448662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N° Tickets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057860" y="529926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MTTR Promedio (h)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12781" y="7697357"/>
            <a:ext cx="2551813" cy="851834"/>
          </a:xfrm>
          <a:prstGeom prst="roundRect">
            <a:avLst>
              <a:gd name="adj" fmla="val 16000"/>
            </a:avLst>
          </a:prstGeom>
          <a:solidFill>
            <a:srgbClr val="F6EEDF"/>
          </a:solidFill>
          <a:ln w="15875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7A551C"/>
                </a:solidFill>
                <a:latin typeface="Calibri"/>
              </a:rPr>
              <a:t>Priorizar Cuadrillas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Asignación de recursos — por cuadrilla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85320" y="6524137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Capacidad Operativa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cuadrilla → turnos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57860" y="6149871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Horas de Conducción Total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57860" y="700047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Técnicos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85320" y="7800044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Experiencia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años; cambian entre meses: no confiable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57860" y="785108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Experiencia Promedio (años)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85320" y="9075951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Carga de Trabajo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tickets y MTTR por cuadrilla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057860" y="8701685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Tickets por Técnico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57860" y="955229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% MTTR Alto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2781" y="10674473"/>
            <a:ext cx="2551813" cy="851834"/>
          </a:xfrm>
          <a:prstGeom prst="roundRect">
            <a:avLst>
              <a:gd name="adj" fmla="val 16000"/>
            </a:avLst>
          </a:prstGeom>
          <a:solidFill>
            <a:srgbClr val="ECEDEF"/>
          </a:solidFill>
          <a:ln w="15875">
            <a:solidFill>
              <a:srgbClr val="5B62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454B57"/>
                </a:solidFill>
                <a:latin typeface="Calibri"/>
              </a:rPr>
              <a:t>Gobernanza de Datos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Protección de datos personales (no es un indicador)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85320" y="10777160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5B62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B6270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454B57"/>
                </a:solidFill>
                <a:latin typeface="Calibri"/>
              </a:rPr>
              <a:t>Reglas de Publicación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nivel de campo / fila (RLS)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057860" y="10402894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270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Ocultar campos re-identificables (PSN)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57860" y="11253499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270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RLS por zona (tabla usuarios_rls)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0241" y="9370827"/>
            <a:ext cx="2551813" cy="16161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666C77"/>
                </a:solidFill>
                <a:latin typeface="Calibri"/>
              </a:rPr>
              <a:t>LEYENDA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Indicador (medida DAX)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■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Control de gobernanza (no es indicador)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◆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Punto de cruce (relación del modelo)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241" y="12265719"/>
            <a:ext cx="13949916" cy="340241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ctr"/>
            <a:r>
              <a:rPr sz="1050" b="0" i="1">
                <a:solidFill>
                  <a:srgbClr val="666C77"/>
                </a:solidFill>
                <a:latin typeface="Calibri"/>
              </a:rPr>
              <a:t>Fuente: modelo de datos y medidas DAX — GIAD Módulo 4, Subcaso 02B (RedNexo, Tecnología y Operaciones) · Datos sintéticos Silver v10 (oficiales)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2892055" y="4295553"/>
            <a:ext cx="1020726" cy="3615070"/>
          </a:xfrm>
          <a:prstGeom prst="curvedConnector3">
            <a:avLst/>
          </a:prstGeom>
          <a:ln w="38100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6464595" y="3444948"/>
            <a:ext cx="1020725" cy="850605"/>
          </a:xfrm>
          <a:prstGeom prst="curvedConnector3">
            <a:avLst/>
          </a:prstGeom>
          <a:ln w="2857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696893" y="3019646"/>
            <a:ext cx="1360967" cy="425302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696893" y="3444948"/>
            <a:ext cx="1360967" cy="425303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64595" y="4295553"/>
            <a:ext cx="1020725" cy="850605"/>
          </a:xfrm>
          <a:prstGeom prst="curvedConnector3">
            <a:avLst/>
          </a:prstGeom>
          <a:ln w="2857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696893" y="4720855"/>
            <a:ext cx="1360967" cy="425303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6893" y="5146158"/>
            <a:ext cx="1360967" cy="425302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92055" y="7910623"/>
            <a:ext cx="1020726" cy="425302"/>
          </a:xfrm>
          <a:prstGeom prst="curvedConnector3">
            <a:avLst/>
          </a:prstGeom>
          <a:ln w="38100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64595" y="6847367"/>
            <a:ext cx="1020725" cy="1488558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96893" y="6422065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6893" y="6847367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64595" y="8335925"/>
            <a:ext cx="1020725" cy="212651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696893" y="8123274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96893" y="8548576"/>
            <a:ext cx="1360967" cy="425303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64595" y="8335925"/>
            <a:ext cx="1020725" cy="1488558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96893" y="9824483"/>
            <a:ext cx="1360967" cy="0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92055" y="7910623"/>
            <a:ext cx="1020726" cy="3189767"/>
          </a:xfrm>
          <a:prstGeom prst="curvedConnector3">
            <a:avLst/>
          </a:prstGeom>
          <a:ln w="381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64595" y="11100390"/>
            <a:ext cx="1020725" cy="0"/>
          </a:xfrm>
          <a:prstGeom prst="curvedConnector3">
            <a:avLst/>
          </a:prstGeom>
          <a:ln w="285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696893" y="10675088"/>
            <a:ext cx="1360967" cy="425302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96893" y="11100390"/>
            <a:ext cx="1360967" cy="425303"/>
          </a:xfrm>
          <a:prstGeom prst="curvedConnector3">
            <a:avLst/>
          </a:prstGeom>
          <a:ln w="2222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0241" y="1607642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l"/>
            <a:r>
              <a:rPr sz="1300" b="1" i="0">
                <a:solidFill>
                  <a:srgbClr val="16543A"/>
                </a:solidFill>
                <a:latin typeface="Calibri"/>
              </a:rPr>
              <a:t>MAPA DE INDICADORES — SUBCASO 03A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0208" y="1607642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r"/>
            <a:r>
              <a:rPr lang="es-BO" sz="1200" b="0" i="0" dirty="0">
                <a:solidFill>
                  <a:srgbClr val="666C77"/>
                </a:solidFill>
                <a:latin typeface="Calibri"/>
              </a:rPr>
              <a:t>GIAD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· </a:t>
            </a:r>
            <a:r>
              <a:rPr sz="1200" b="0" i="0" dirty="0" err="1">
                <a:solidFill>
                  <a:srgbClr val="666C77"/>
                </a:solidFill>
                <a:latin typeface="Calibri"/>
              </a:rPr>
              <a:t>Módulo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4 · Power BI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241" y="6719776"/>
            <a:ext cx="2551813" cy="2381693"/>
          </a:xfrm>
          <a:prstGeom prst="roundRect">
            <a:avLst>
              <a:gd name="adj" fmla="val 14000"/>
            </a:avLst>
          </a:prstGeom>
          <a:solidFill>
            <a:srgbClr val="1F6F4E"/>
          </a:solidFill>
          <a:ln w="15875">
            <a:solidFill>
              <a:srgbClr val="165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MANDATO · ANDINALOG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Rentabilidad, OTIF y Satisfacción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Analizar rentabilidad, cumplimiento OTIF, satisfacción y merma por cliente, tipo de canal, producto y categoría logística.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2781" y="3870251"/>
            <a:ext cx="2551813" cy="850604"/>
          </a:xfrm>
          <a:prstGeom prst="roundRect">
            <a:avLst>
              <a:gd name="adj" fmla="val 16000"/>
            </a:avLst>
          </a:prstGeom>
          <a:solidFill>
            <a:srgbClr val="E4EEF3"/>
          </a:solidFill>
          <a:ln w="15875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4F6B"/>
                </a:solidFill>
                <a:latin typeface="Calibri"/>
              </a:rPr>
              <a:t>OTIF y Satisfacción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Por tipo de cliente, zona y categoría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5320" y="3121719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1F4F6B"/>
                </a:solidFill>
                <a:latin typeface="Calibri"/>
              </a:rPr>
              <a:t>Cumplimiento de Entrega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orden → cliente/producto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57860" y="2747453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OTIF Promedio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57860" y="3598057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N Órdenes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85320" y="4822928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1F4F6B"/>
                </a:solidFill>
                <a:latin typeface="Calibri"/>
              </a:rPr>
              <a:t>Experiencia del Cliente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cobertura parcial (72 %)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57860" y="4448662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Satisfacción Promedio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057860" y="529926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N Evaluadas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12781" y="7910623"/>
            <a:ext cx="2551813" cy="850604"/>
          </a:xfrm>
          <a:prstGeom prst="roundRect">
            <a:avLst>
              <a:gd name="adj" fmla="val 16000"/>
            </a:avLst>
          </a:prstGeom>
          <a:solidFill>
            <a:srgbClr val="F6EEDF"/>
          </a:solidFill>
          <a:ln w="15875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7A551C"/>
                </a:solidFill>
                <a:latin typeface="Calibri"/>
              </a:rPr>
              <a:t>Rentabilidad Ajustada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Devoluciones, merma asignada y CAC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85320" y="6524137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Ingresos y Costos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cliente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57860" y="6149871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Ingreso Bruto (Bs)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57860" y="700047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Costo Ventas (Bs)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85320" y="8225346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Ajustes y Merma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merma → orden (LOOKUPVALUE)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57860" y="785108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CAC (Bs)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057860" y="8701685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Costo Devolución (Bs)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85320" y="9501253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Resultado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margen final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57860" y="955229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Margen Ajustado (Bs)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2781" y="10650186"/>
            <a:ext cx="2551813" cy="900408"/>
          </a:xfrm>
          <a:prstGeom prst="roundRect">
            <a:avLst>
              <a:gd name="adj" fmla="val 16000"/>
            </a:avLst>
          </a:prstGeom>
          <a:solidFill>
            <a:srgbClr val="EFE8F5"/>
          </a:solidFill>
          <a:ln w="1587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553875"/>
                </a:solidFill>
                <a:latin typeface="Calibri"/>
              </a:rPr>
              <a:t>Exposición por Incumplimiento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Impacto en productos y clientes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85320" y="10777160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553875"/>
                </a:solidFill>
                <a:latin typeface="Calibri"/>
              </a:rPr>
              <a:t>Indicadores de Impacto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incumplimiento × ingreso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057860" y="10402894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Incumplimiento 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57860" y="11253499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Exposición (Bs)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0241" y="9441711"/>
            <a:ext cx="2551813" cy="12759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666C77"/>
                </a:solidFill>
                <a:latin typeface="Calibri"/>
              </a:rPr>
              <a:t>LEYENDA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Indicador (medida DAX)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◆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Punto de cruce (relación del modelo)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241" y="12265719"/>
            <a:ext cx="13949916" cy="340241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ctr"/>
            <a:r>
              <a:rPr sz="1050" b="0" i="1">
                <a:solidFill>
                  <a:srgbClr val="666C77"/>
                </a:solidFill>
                <a:latin typeface="Calibri"/>
              </a:rPr>
              <a:t>Fuente: modelo de datos y medidas DAX — GIAD Módulo 4, Subcaso 03A (AndinaLog, Dirección Comercial y Clientes) · Datos sintéticos Silver v10 (oficiales)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2892055" y="4720855"/>
            <a:ext cx="1020726" cy="2480931"/>
          </a:xfrm>
          <a:prstGeom prst="curvedConnector3">
            <a:avLst/>
          </a:prstGeom>
          <a:ln w="38100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464595" y="4720855"/>
            <a:ext cx="1020725" cy="0"/>
          </a:xfrm>
          <a:prstGeom prst="curvedConnector3">
            <a:avLst/>
          </a:prstGeom>
          <a:ln w="2857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696893" y="4720855"/>
            <a:ext cx="1360967" cy="0"/>
          </a:xfrm>
          <a:prstGeom prst="curvedConnector3">
            <a:avLst/>
          </a:prstGeom>
          <a:ln w="22225">
            <a:solidFill>
              <a:srgbClr val="2B6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892055" y="7060018"/>
            <a:ext cx="1020726" cy="141768"/>
          </a:xfrm>
          <a:prstGeom prst="curvedConnector3">
            <a:avLst/>
          </a:prstGeom>
          <a:ln w="38100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464595" y="5996762"/>
            <a:ext cx="1020725" cy="1063256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696893" y="5571460"/>
            <a:ext cx="1360967" cy="425302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6893" y="5996762"/>
            <a:ext cx="1360967" cy="425303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64595" y="7060018"/>
            <a:ext cx="1020725" cy="1063256"/>
          </a:xfrm>
          <a:prstGeom prst="curvedConnector3">
            <a:avLst/>
          </a:prstGeom>
          <a:ln w="2857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696893" y="7272669"/>
            <a:ext cx="1360967" cy="850605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96893" y="8123274"/>
            <a:ext cx="1360967" cy="0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6893" y="8123274"/>
            <a:ext cx="1360967" cy="850605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92055" y="7201786"/>
            <a:ext cx="1020726" cy="2622697"/>
          </a:xfrm>
          <a:prstGeom prst="curvedConnector3">
            <a:avLst/>
          </a:prstGeom>
          <a:ln w="381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64595" y="9824483"/>
            <a:ext cx="1020725" cy="0"/>
          </a:xfrm>
          <a:prstGeom prst="curvedConnector3">
            <a:avLst/>
          </a:prstGeom>
          <a:ln w="285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0241" y="3308852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l"/>
            <a:r>
              <a:rPr sz="1300" b="1" i="0">
                <a:solidFill>
                  <a:srgbClr val="16543A"/>
                </a:solidFill>
                <a:latin typeface="Calibri"/>
              </a:rPr>
              <a:t>MAPA DE INDICADORES — SUBCASO 03B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0208" y="3308852"/>
            <a:ext cx="8369949" cy="374266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r"/>
            <a:r>
              <a:rPr lang="es-BO" sz="1200" b="0" i="0" dirty="0">
                <a:solidFill>
                  <a:srgbClr val="666C77"/>
                </a:solidFill>
                <a:latin typeface="Calibri"/>
              </a:rPr>
              <a:t>GIAD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· </a:t>
            </a:r>
            <a:r>
              <a:rPr sz="1200" b="0" i="0" dirty="0" err="1">
                <a:solidFill>
                  <a:srgbClr val="666C77"/>
                </a:solidFill>
                <a:latin typeface="Calibri"/>
              </a:rPr>
              <a:t>Módulo</a:t>
            </a:r>
            <a:r>
              <a:rPr sz="1200" b="0" i="0" dirty="0">
                <a:solidFill>
                  <a:srgbClr val="666C77"/>
                </a:solidFill>
                <a:latin typeface="Calibri"/>
              </a:rPr>
              <a:t> 4 · Power 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241" y="6010939"/>
            <a:ext cx="2551813" cy="2381693"/>
          </a:xfrm>
          <a:prstGeom prst="roundRect">
            <a:avLst>
              <a:gd name="adj" fmla="val 14000"/>
            </a:avLst>
          </a:prstGeom>
          <a:solidFill>
            <a:srgbClr val="1F6F4E"/>
          </a:solidFill>
          <a:ln w="15875">
            <a:solidFill>
              <a:srgbClr val="165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MANDATO · ANDINALOG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Cadena de Frío y Rotación de Inventario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Proteger la cadena de frío, mejorar la rotación del inventario y anticipar desviaciones térmicas durante el transporte.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2781" y="4295553"/>
            <a:ext cx="2551813" cy="850604"/>
          </a:xfrm>
          <a:prstGeom prst="roundRect">
            <a:avLst>
              <a:gd name="adj" fmla="val 16000"/>
            </a:avLst>
          </a:prstGeom>
          <a:solidFill>
            <a:srgbClr val="E4EEF3"/>
          </a:solidFill>
          <a:ln w="15875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4F6B"/>
                </a:solidFill>
                <a:latin typeface="Calibri"/>
              </a:rPr>
              <a:t>Excursiones Térmicas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Por producto, viaje y camión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5320" y="4397626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B6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1F4F6B"/>
                </a:solidFill>
                <a:latin typeface="Calibri"/>
              </a:rPr>
              <a:t>Desviación por Viaje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tabla virtual (SUMMARIZE)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57860" y="4448662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B6E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% Viajes con Desviación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2781" y="6502014"/>
            <a:ext cx="2551813" cy="1116007"/>
          </a:xfrm>
          <a:prstGeom prst="roundRect">
            <a:avLst>
              <a:gd name="adj" fmla="val 16000"/>
            </a:avLst>
          </a:prstGeom>
          <a:solidFill>
            <a:srgbClr val="F6EEDF"/>
          </a:solidFill>
          <a:ln w="15875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7A551C"/>
                </a:solidFill>
                <a:latin typeface="Calibri"/>
              </a:rPr>
              <a:t>Riesgo de Vencimiento y Merma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Días en almacén y fecha de vencimiento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85320" y="5673533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Estado del Lote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columnas por lote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57860" y="529926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Salió Vencido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57860" y="6149871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Vida Remanente al Salir (días)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5320" y="7800044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6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7A551C"/>
                </a:solidFill>
                <a:latin typeface="Calibri"/>
              </a:rPr>
              <a:t>Indicadores Agregados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por categoría logística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57860" y="7000476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Merma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57860" y="785108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Días Promedio en Almacén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057860" y="8701685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67F2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Lotes Salidos Vencidos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2781" y="9374279"/>
            <a:ext cx="2551813" cy="900408"/>
          </a:xfrm>
          <a:prstGeom prst="roundRect">
            <a:avLst>
              <a:gd name="adj" fmla="val 16000"/>
            </a:avLst>
          </a:prstGeom>
          <a:solidFill>
            <a:srgbClr val="EFE8F5"/>
          </a:solidFill>
          <a:ln w="1587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164592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553875"/>
                </a:solidFill>
                <a:latin typeface="Calibri"/>
              </a:rPr>
              <a:t>Alerta Predictiva de Temperatura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C77"/>
                </a:solidFill>
                <a:latin typeface="Calibri"/>
              </a:rPr>
              <a:t>Próximos 60 minutos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85320" y="9501253"/>
            <a:ext cx="2211572" cy="6464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◆  </a:t>
            </a:r>
            <a:r>
              <a:rPr sz="1300" b="1" i="0">
                <a:solidFill>
                  <a:srgbClr val="553875"/>
                </a:solidFill>
                <a:latin typeface="Calibri"/>
              </a:rPr>
              <a:t>Serie Temporal por Viaje</a:t>
            </a:r>
          </a:p>
          <a:p>
            <a:pPr algn="l"/>
            <a:r>
              <a:rPr sz="1050" b="0" i="0">
                <a:solidFill>
                  <a:srgbClr val="666C77"/>
                </a:solidFill>
                <a:latin typeface="Calibri"/>
              </a:rPr>
              <a:t>LOOKUPVALUE (minuto − 30)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057860" y="937000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Variación 30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241" y="8732874"/>
            <a:ext cx="2551813" cy="12759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666C77"/>
                </a:solidFill>
                <a:latin typeface="Calibri"/>
              </a:rPr>
              <a:t>LEYENDA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●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Indicador (medida DAX)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92F"/>
                </a:solidFill>
                <a:latin typeface="Calibri"/>
              </a:rPr>
              <a:t>◆  </a:t>
            </a:r>
            <a:r>
              <a:rPr sz="1150" b="0" i="0">
                <a:solidFill>
                  <a:srgbClr val="26292F"/>
                </a:solidFill>
                <a:latin typeface="Calibri"/>
              </a:rPr>
              <a:t>Punto de cruce (relación del modelo)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241" y="10770000"/>
            <a:ext cx="13949916" cy="340241"/>
          </a:xfrm>
          <a:prstGeom prst="rect">
            <a:avLst/>
          </a:prstGeom>
          <a:noFill/>
        </p:spPr>
        <p:txBody>
          <a:bodyPr wrap="square" lIns="0" tIns="0" rIns="109728" bIns="0" anchor="ctr">
            <a:noAutofit/>
          </a:bodyPr>
          <a:lstStyle/>
          <a:p>
            <a:pPr algn="ctr"/>
            <a:r>
              <a:rPr sz="1050" b="0" i="1">
                <a:solidFill>
                  <a:srgbClr val="666C77"/>
                </a:solidFill>
                <a:latin typeface="Calibri"/>
              </a:rPr>
              <a:t>Fuente: modelo de datos y medidas DAX — GIAD Módulo 4, Subcaso 03B (AndinaLog, Operaciones y Planificación de Datos) · Datos sintéticos Silver v10 (oficiales)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57860" y="10120000"/>
            <a:ext cx="2892055" cy="54438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A4C93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26292F"/>
                </a:solidFill>
                <a:latin typeface="Calibri"/>
              </a:rPr>
              <a:t>Prob. Desviación 60 min</a:t>
            </a:r>
          </a:p>
        </p:txBody>
      </p:sp>
      <p:cxnSp>
        <p:nvCxnSpPr>
          <p:cNvPr id="36" name="Connector 6"/>
          <p:cNvCxnSpPr/>
          <p:nvPr/>
        </p:nvCxnSpPr>
        <p:spPr>
          <a:xfrm flipV="1">
            <a:off x="9696893" y="9642193"/>
            <a:ext cx="1360967" cy="182290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7"/>
          <p:cNvCxnSpPr/>
          <p:nvPr/>
        </p:nvCxnSpPr>
        <p:spPr>
          <a:xfrm>
            <a:off x="9696893" y="9824483"/>
            <a:ext cx="1360967" cy="567710"/>
          </a:xfrm>
          <a:prstGeom prst="curvedConnector3">
            <a:avLst/>
          </a:prstGeom>
          <a:ln w="22225">
            <a:solidFill>
              <a:srgbClr val="B67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1249</Words>
  <Application>Microsoft Office PowerPoint</Application>
  <PresentationFormat>Custom</PresentationFormat>
  <Paragraphs>222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Marcos Peredo</cp:lastModifiedBy>
  <cp:revision>2</cp:revision>
  <dcterms:created xsi:type="dcterms:W3CDTF">2013-01-27T09:14:16Z</dcterms:created>
  <dcterms:modified xsi:type="dcterms:W3CDTF">2026-09-12T18:52:54Z</dcterms:modified>
  <cp:category/>
</cp:coreProperties>
</file>